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"/>
            <a:ext cx="4709160" cy="6789420"/>
          </a:xfrm>
          <a:prstGeom prst="rect">
            <a:avLst/>
          </a:prstGeom>
          <a:solidFill>
            <a:srgbClr val="17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713232"/>
            <a:ext cx="749808" cy="749808"/>
          </a:xfrm>
          <a:prstGeom prst="round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3703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Calibri"/>
              </a:defRPr>
            </a:pPr>
            <a:r>
              <a:t>Mercur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5292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CD8CF"/>
                </a:solidFill>
                <a:latin typeface="Calibri"/>
              </a:defRPr>
            </a:pPr>
            <a:r>
              <a:t>Multi-vendor маркетплейс для покупців, продавців і адміністраторів.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65960"/>
            <a:ext cx="58064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200">
                <a:solidFill>
                  <a:srgbClr val="171713"/>
                </a:solidFill>
                <a:latin typeface="Calibri"/>
              </a:defRPr>
            </a:pPr>
            <a:r>
              <a:t>курсова робота;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200">
                <a:solidFill>
                  <a:srgbClr val="171713"/>
                </a:solidFill>
                <a:latin typeface="Calibri"/>
              </a:defRPr>
            </a:pPr>
            <a:r>
              <a:t>стек: Medusa, Mercur, React, PostgreSQL;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200">
                <a:solidFill>
                  <a:srgbClr val="171713"/>
                </a:solidFill>
                <a:latin typeface="Calibri"/>
              </a:defRPr>
            </a:pPr>
            <a:r>
              <a:t>робочий прототип із наповненими демо-даними.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Актуальність теми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Маркетплейси є однією з основних моделей сучасної електронної комерції.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9829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один майданчик об'єднує багато продавців;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покупець отримує ширший вибір товарів;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продавці можуть працювати незалежно;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адміністратор керує платформою централізовано;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така архітектура ближча до реальних e-commerce систем.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Мета проєкту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Мета — створити робочий прототип multi-vendor маркетплейсу.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9829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реалізувати окремі інтерфейси для покупця, продавця й адміністратора;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підключити frontend до реального backend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налаштувати marketplace-логіку продавців і товарів;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наповнити систему демонстраційними даними;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показати базову архітектуру e-commerce платформи.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Ролі користувачів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У системі розділені сценарії для трьох типів користувачів.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84831"/>
            <a:ext cx="345948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3002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5A29"/>
                </a:solidFill>
                <a:latin typeface="Calibri"/>
              </a:defRPr>
            </a:pPr>
            <a:r>
              <a:t>Покупець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9503"/>
            <a:ext cx="2910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переглядає каталог;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шукає товари;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фільтрує за категоріями;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додає товари до кошика.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2084831"/>
            <a:ext cx="345948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2480" y="2313432"/>
            <a:ext cx="3002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5A29"/>
                </a:solidFill>
                <a:latin typeface="Calibri"/>
              </a:defRPr>
            </a:pPr>
            <a:r>
              <a:t>Продавець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2889503"/>
            <a:ext cx="2910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має власний кабінет;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керує своїми товарами;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працює із замовленнями;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належить до seller-ролі.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084831"/>
            <a:ext cx="345948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313432"/>
            <a:ext cx="3002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5A29"/>
                </a:solidFill>
                <a:latin typeface="Calibri"/>
              </a:defRPr>
            </a:pPr>
            <a:r>
              <a:t>Адміністратор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280" y="2889503"/>
            <a:ext cx="2910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керує маркетплейсом;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контролює продавців;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бачить товари та налаштування;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має доступ до admin panel.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Загальна архітектура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Проєкт поділено на окремі застосунки та backend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2286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1713"/>
                </a:solidFill>
                <a:latin typeface="Calibri"/>
              </a:defRPr>
            </a:pPr>
            <a:r>
              <a:t>Storefront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12140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5A2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965960"/>
            <a:ext cx="2194560" cy="621792"/>
          </a:xfrm>
          <a:prstGeom prst="roundRect">
            <a:avLst/>
          </a:prstGeom>
          <a:solidFill>
            <a:srgbClr val="17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2130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2286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1713"/>
                </a:solidFill>
                <a:latin typeface="Calibri"/>
              </a:defRPr>
            </a:pPr>
            <a:r>
              <a:t>Vendor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815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5A2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926080"/>
            <a:ext cx="2194560" cy="621792"/>
          </a:xfrm>
          <a:prstGeom prst="roundRect">
            <a:avLst/>
          </a:prstGeom>
          <a:solidFill>
            <a:srgbClr val="17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3090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Vendor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2286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5079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1713"/>
                </a:solidFill>
                <a:latin typeface="Calibri"/>
              </a:defRPr>
            </a:pPr>
            <a:r>
              <a:t>Admin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041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5A2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3886200"/>
            <a:ext cx="2194560" cy="621792"/>
          </a:xfrm>
          <a:prstGeom prst="roundRect">
            <a:avLst/>
          </a:prstGeom>
          <a:solidFill>
            <a:srgbClr val="17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40507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Admin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240280"/>
            <a:ext cx="2011680" cy="1417320"/>
          </a:xfrm>
          <a:prstGeom prst="round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1993392"/>
            <a:ext cx="1874519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21284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1713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3127248"/>
            <a:ext cx="1874519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3346704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1713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681728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Storefront звертається до Store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Vendor Panel звертається до Vendor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Admin Panel звертається до Admin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Backend працює з PostgreSQL і Redis;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усі частини запускаються в одному monorepo.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Backend побудований на Medusa 2 і Mercur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84831"/>
            <a:ext cx="530352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5A29"/>
                </a:solidFill>
                <a:latin typeface="Calibri"/>
              </a:defRPr>
            </a:pPr>
            <a:r>
              <a:t>Medusa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9503"/>
            <a:ext cx="4754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товари;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варіанти;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ціни;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категорії;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склади.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84831"/>
            <a:ext cx="530352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13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5A29"/>
                </a:solidFill>
                <a:latin typeface="Calibri"/>
              </a:defRPr>
            </a:pPr>
            <a:r>
              <a:t>Mercur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9503"/>
            <a:ext cx="4754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продавці;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vendor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seller roles;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171713"/>
                </a:solidFill>
                <a:latin typeface="Calibri"/>
              </a:defRPr>
            </a:pPr>
            <a:r>
              <a:t>зв'язок товарів із продавцями.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Storefront для покупців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Окремий React/Vite інтерфейс працює з реальним Store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9829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каталог отримує товари з backend;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є пошук і фільтрація;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картки показують назву, ціну, категорію і продавця;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у модальному вікні можна вибрати варіант товару;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кошик зберігається локально в браузері.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Демо-дані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Проєкт наповнений реалістичними прикладами для демонстрації.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2377440" cy="1207008"/>
          </a:xfrm>
          <a:prstGeom prst="roundRect">
            <a:avLst/>
          </a:prstGeom>
          <a:solidFill>
            <a:srgbClr val="17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продавців;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1965960"/>
            <a:ext cx="2377440" cy="1207008"/>
          </a:xfrm>
          <a:prstGeom prst="roundRect">
            <a:avLst/>
          </a:prstGeom>
          <a:solidFill>
            <a:srgbClr val="17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1305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товарів;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965960"/>
            <a:ext cx="2377440" cy="1207008"/>
          </a:xfrm>
          <a:prstGeom prst="roundRect">
            <a:avLst/>
          </a:prstGeom>
          <a:solidFill>
            <a:srgbClr val="17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21305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категорії;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10058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>
                <a:solidFill>
                  <a:srgbClr val="171713"/>
                </a:solidFill>
                <a:latin typeface="Calibri"/>
              </a:defRPr>
            </a:pPr>
            <a:r>
              <a:t>товари мають ціни, варіанти й залишки;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>
                <a:solidFill>
                  <a:srgbClr val="171713"/>
                </a:solidFill>
                <a:latin typeface="Calibri"/>
              </a:defRPr>
            </a:pPr>
            <a:r>
              <a:t>кожен демо-товар прив'язаний до продавця;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>
                <a:solidFill>
                  <a:srgbClr val="171713"/>
                </a:solidFill>
                <a:latin typeface="Calibri"/>
              </a:defRPr>
            </a:pPr>
            <a:r>
              <a:t>дані можна повторно відновити через seed-скрипти.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Seed-скрипти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Для демонстрації створено скрипти автоматичного наповнення бази.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9829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seed — базові налаштування Medusa;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seed:marketplace — товари перших продавців;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seed:catalog — великий каталог;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seed:more-products — додаткові товари для всіх продавців;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перевірка за handle запобігає дублюванню товарів.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Безпека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Backend використовує базові механізми безпеки Medusa і Mercur.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9829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авторизація Medusa;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RBAC для ролей;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окремі Store, Admin і Vendor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Storefront не має доступу до Admin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Store API використовує publishable API key;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CORS обмежує клієнти;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секрети зберігаються в .env.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Обмеження і подальший розвиток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Поточна версія є робочим навчальним прототипом.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9829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checkout у storefront поки демонстраційний;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payment provider ще не підключений;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email provider не налаштований;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production file storage ще не підключений;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демо-паролі потрібно замінити;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можна додати кабінет покупця та історію замовлень.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42448" y="658368"/>
            <a:ext cx="1143000" cy="1143000"/>
          </a:xfrm>
          <a:prstGeom prst="ellipse">
            <a:avLst/>
          </a:prstGeom>
          <a:solidFill>
            <a:srgbClr val="F15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40112" y="1078992"/>
            <a:ext cx="502920" cy="502920"/>
          </a:xfrm>
          <a:prstGeom prst="ellipse">
            <a:avLst/>
          </a:prstGeom>
          <a:solidFill>
            <a:srgbClr val="D7E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738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1713"/>
                </a:solidFill>
                <a:latin typeface="Calibri"/>
              </a:defRPr>
            </a:pPr>
            <a:r>
              <a:t>Висновок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281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5952"/>
                </a:solidFill>
                <a:latin typeface="Calibri"/>
              </a:defRPr>
            </a:pPr>
            <a:r>
              <a:t>Створено робочий прототип multi-vendor маркетплейсу.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9829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реалізовано три ролі користувачів;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frontend підключений до реального backend API;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система наповнена демонстраційними даними;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є окремі панелі покупця, продавця й адміністратора;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архітектура дозволяє розвивати проєкт до production-рівня.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>
                <a:solidFill>
                  <a:srgbClr val="171713"/>
                </a:solidFill>
                <a:latin typeface="Calibri"/>
              </a:defRPr>
            </a:pPr>
            <a:r>
              <a:t>Фінальна теза: проєкт демонструє не лише інтерфейс магазину, а основу marketplace-системи з продавцями, товарами, ролями та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5952"/>
                </a:solidFill>
                <a:latin typeface="Calibri"/>
              </a:defRPr>
            </a:pPr>
            <a:r>
              <a:t>Mercur Marketplace - defense - 12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